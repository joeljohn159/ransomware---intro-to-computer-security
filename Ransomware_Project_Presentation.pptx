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10" r:id="rId1"/>
  </p:sld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  <p:sldId id="264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9144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8831" y="1449146"/>
            <a:ext cx="7526338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8831" y="5280847"/>
            <a:ext cx="7526338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188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9997" y="2222287"/>
            <a:ext cx="7524003" cy="36365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075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0"/>
            <a:ext cx="9144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863" y="2951396"/>
            <a:ext cx="7526337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4863" y="5281200"/>
            <a:ext cx="7526337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377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9996" y="2222287"/>
            <a:ext cx="367072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0" y="2222287"/>
            <a:ext cx="3670720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654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9996" y="2174875"/>
            <a:ext cx="367072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9996" y="2751137"/>
            <a:ext cx="3687391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0" y="2174875"/>
            <a:ext cx="3670720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0" y="2751137"/>
            <a:ext cx="3670720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061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423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682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804863" y="446086"/>
            <a:ext cx="2660650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863" y="446088"/>
            <a:ext cx="2660650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4" y="446087"/>
            <a:ext cx="4689475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4863" y="2260737"/>
            <a:ext cx="2660650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996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9996" y="727521"/>
            <a:ext cx="350154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4573588" y="0"/>
            <a:ext cx="4570412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9996" y="2344684"/>
            <a:ext cx="350154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914357" y="6041361"/>
            <a:ext cx="73265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42797" y="6041361"/>
            <a:ext cx="247156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47017" y="5915887"/>
            <a:ext cx="796616" cy="49059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392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863" y="4800600"/>
            <a:ext cx="752633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9144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4863" y="5367338"/>
            <a:ext cx="7526337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77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485107" y="1338479"/>
            <a:ext cx="4749312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573" y="1495525"/>
            <a:ext cx="442038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1226" y="4700702"/>
            <a:ext cx="4418727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5398884" y="1338479"/>
            <a:ext cx="3302316" cy="4075464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6468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855663" y="2286585"/>
            <a:ext cx="3671336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017816" y="2435956"/>
            <a:ext cx="328689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616450" y="2286000"/>
            <a:ext cx="3671888" cy="2300288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904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1590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5752238" y="446089"/>
            <a:ext cx="3391762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AutoShape 4"/>
          <p:cNvSpPr>
            <a:spLocks noChangeAspect="1" noChangeArrowheads="1" noTextEdit="1"/>
          </p:cNvSpPr>
          <p:nvPr/>
        </p:nvSpPr>
        <p:spPr bwMode="auto">
          <a:xfrm>
            <a:off x="5233988" y="0"/>
            <a:ext cx="3910012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37655" y="586171"/>
            <a:ext cx="1701800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4862" y="446089"/>
            <a:ext cx="4947376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96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9997" y="447188"/>
            <a:ext cx="7524003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9997" y="2184400"/>
            <a:ext cx="7524003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2797" y="6041361"/>
            <a:ext cx="6289532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1422" y="6041361"/>
            <a:ext cx="993161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04584" y="5915887"/>
            <a:ext cx="796616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7895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11" r:id="rId1"/>
    <p:sldLayoutId id="2147483912" r:id="rId2"/>
    <p:sldLayoutId id="2147483913" r:id="rId3"/>
    <p:sldLayoutId id="2147483914" r:id="rId4"/>
    <p:sldLayoutId id="2147483915" r:id="rId5"/>
    <p:sldLayoutId id="2147483916" r:id="rId6"/>
    <p:sldLayoutId id="2147483917" r:id="rId7"/>
    <p:sldLayoutId id="2147483918" r:id="rId8"/>
    <p:sldLayoutId id="2147483919" r:id="rId9"/>
    <p:sldLayoutId id="2147483920" r:id="rId10"/>
    <p:sldLayoutId id="2147483921" r:id="rId11"/>
    <p:sldLayoutId id="2147483922" r:id="rId12"/>
    <p:sldLayoutId id="2147483923" r:id="rId13"/>
    <p:sldLayoutId id="214748392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myunt-my.sharepoint.com/:v:/g/personal/joeljohn1_my_unt_edu/ERxoKxpKSPNOkYkKvuwcB-4B5MJ-X2_gGuV8HUnomKZhWg?nav=eyJyZWZlcnJhbEluZm8iOnsicmVmZXJyYWxBcHAiOiJPbmVEcml2ZUZvckJ1c2luZXNzIiwicmVmZXJyYWxBcHBQbGF0Zm9ybSI6IldlYiIsInJlZmVycmFsTW9kZSI6InZpZXciLCJyZWZlcnJhbFZpZXciOiJNeUZpbGVzTGlua0NvcHkifX0&amp;e=Mgm8LE" TargetMode="External"/><Relationship Id="rId2" Type="http://schemas.openxmlformats.org/officeDocument/2006/relationships/hyperlink" Target="https://github.com/joeljohn159/Ransomware---Intro-to-Computer-Security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9A69AF-D57B-49B4-886C-D4A5DC194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ABDC08D-6093-4397-92D4-54D00E2BB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6200000">
            <a:off x="-1345293" y="1345293"/>
            <a:ext cx="6858000" cy="4167414"/>
          </a:xfrm>
          <a:custGeom>
            <a:avLst/>
            <a:gdLst>
              <a:gd name="connsiteX0" fmla="*/ 6858000 w 6858000"/>
              <a:gd name="connsiteY0" fmla="*/ 3445704 h 5556552"/>
              <a:gd name="connsiteX1" fmla="*/ 3829242 w 6858000"/>
              <a:gd name="connsiteY1" fmla="*/ 5433322 h 5556552"/>
              <a:gd name="connsiteX2" fmla="*/ 3827369 w 6858000"/>
              <a:gd name="connsiteY2" fmla="*/ 5434867 h 5556552"/>
              <a:gd name="connsiteX3" fmla="*/ 3824583 w 6858000"/>
              <a:gd name="connsiteY3" fmla="*/ 5436378 h 5556552"/>
              <a:gd name="connsiteX4" fmla="*/ 3798693 w 6858000"/>
              <a:gd name="connsiteY4" fmla="*/ 5453370 h 5556552"/>
              <a:gd name="connsiteX5" fmla="*/ 3785011 w 6858000"/>
              <a:gd name="connsiteY5" fmla="*/ 5457858 h 5556552"/>
              <a:gd name="connsiteX6" fmla="*/ 3706339 w 6858000"/>
              <a:gd name="connsiteY6" fmla="*/ 5500559 h 5556552"/>
              <a:gd name="connsiteX7" fmla="*/ 3428998 w 6858000"/>
              <a:gd name="connsiteY7" fmla="*/ 5556552 h 5556552"/>
              <a:gd name="connsiteX8" fmla="*/ 3151658 w 6858000"/>
              <a:gd name="connsiteY8" fmla="*/ 5500559 h 5556552"/>
              <a:gd name="connsiteX9" fmla="*/ 3072996 w 6858000"/>
              <a:gd name="connsiteY9" fmla="*/ 5457863 h 5556552"/>
              <a:gd name="connsiteX10" fmla="*/ 3059298 w 6858000"/>
              <a:gd name="connsiteY10" fmla="*/ 5453370 h 5556552"/>
              <a:gd name="connsiteX11" fmla="*/ 3033383 w 6858000"/>
              <a:gd name="connsiteY11" fmla="*/ 5436362 h 5556552"/>
              <a:gd name="connsiteX12" fmla="*/ 3030627 w 6858000"/>
              <a:gd name="connsiteY12" fmla="*/ 5434867 h 5556552"/>
              <a:gd name="connsiteX13" fmla="*/ 3028775 w 6858000"/>
              <a:gd name="connsiteY13" fmla="*/ 5433338 h 5556552"/>
              <a:gd name="connsiteX14" fmla="*/ 0 w 6858000"/>
              <a:gd name="connsiteY14" fmla="*/ 3445704 h 5556552"/>
              <a:gd name="connsiteX15" fmla="*/ 6858000 w 6858000"/>
              <a:gd name="connsiteY15" fmla="*/ 0 h 5556552"/>
              <a:gd name="connsiteX16" fmla="*/ 6858000 w 6858000"/>
              <a:gd name="connsiteY16" fmla="*/ 349336 h 5556552"/>
              <a:gd name="connsiteX17" fmla="*/ 6858000 w 6858000"/>
              <a:gd name="connsiteY17" fmla="*/ 3445703 h 5556552"/>
              <a:gd name="connsiteX18" fmla="*/ 0 w 6858000"/>
              <a:gd name="connsiteY18" fmla="*/ 3445703 h 5556552"/>
              <a:gd name="connsiteX19" fmla="*/ 0 w 6858000"/>
              <a:gd name="connsiteY19" fmla="*/ 0 h 5556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858000" h="5556552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66C4B8-BF67-DC0F-782C-97D2AE514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36" y="1734857"/>
            <a:ext cx="2824112" cy="3388287"/>
          </a:xfrm>
        </p:spPr>
        <p:txBody>
          <a:bodyPr anchor="ctr">
            <a:normAutofit/>
          </a:bodyPr>
          <a:lstStyle/>
          <a:p>
            <a:r>
              <a:rPr lang="en-US" dirty="0"/>
              <a:t>Team 15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93CA8-7761-FE05-BF9A-27F48340D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6051" y="978993"/>
            <a:ext cx="4023913" cy="4900014"/>
          </a:xfrm>
          <a:effectLst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Name</a:t>
            </a:r>
          </a:p>
          <a:p>
            <a:r>
              <a:rPr lang="en-US" dirty="0"/>
              <a:t>Joel John – 11753625</a:t>
            </a:r>
          </a:p>
          <a:p>
            <a:r>
              <a:rPr lang="en-US" dirty="0" err="1"/>
              <a:t>Arkaan</a:t>
            </a:r>
            <a:r>
              <a:rPr lang="en-US" dirty="0"/>
              <a:t> Sheikh 11802830</a:t>
            </a:r>
          </a:p>
          <a:p>
            <a:r>
              <a:rPr lang="en-US" dirty="0"/>
              <a:t>Rakesh Reddy </a:t>
            </a:r>
            <a:r>
              <a:rPr lang="en-US" dirty="0" err="1"/>
              <a:t>Jammuladinne</a:t>
            </a:r>
            <a:r>
              <a:rPr lang="en-US" dirty="0"/>
              <a:t> -11721035</a:t>
            </a:r>
          </a:p>
          <a:p>
            <a:r>
              <a:rPr lang="en-US" dirty="0"/>
              <a:t>Keerthi </a:t>
            </a:r>
            <a:r>
              <a:rPr lang="en-US" dirty="0" err="1"/>
              <a:t>Lekkala</a:t>
            </a:r>
            <a:r>
              <a:rPr lang="en-US" dirty="0"/>
              <a:t> Dilli -11703021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961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940F547-7206-4401-94FB-F8421915D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-up of several computer hard drives&#10;&#10;AI-generated content may be incorrect.">
            <a:extLst>
              <a:ext uri="{FF2B5EF4-FFF2-40B4-BE49-F238E27FC236}">
                <a16:creationId xmlns:a16="http://schemas.microsoft.com/office/drawing/2014/main" id="{7F119AD1-3AE6-2FA1-98BC-9719DA1B5B2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40000"/>
          </a:blip>
          <a:srcRect l="358" r="24643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447188"/>
            <a:ext cx="7928998" cy="97045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400"/>
              <a:t>Introduction to Ransomware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034" y="2222287"/>
            <a:ext cx="7915930" cy="363651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/>
              <a:t>Objective: Simulate a ransomware attack and mitigation in a controlled lab environment</a:t>
            </a:r>
          </a:p>
          <a:p>
            <a:pPr>
              <a:lnSpc>
                <a:spcPct val="90000"/>
              </a:lnSpc>
            </a:pPr>
            <a:r>
              <a:rPr lang="en-IN"/>
              <a:t>Stages:</a:t>
            </a:r>
          </a:p>
          <a:p>
            <a:pPr>
              <a:lnSpc>
                <a:spcPct val="90000"/>
              </a:lnSpc>
            </a:pPr>
            <a:r>
              <a:rPr lang="en-IN"/>
              <a:t>  - Action: Encrypt files</a:t>
            </a:r>
          </a:p>
          <a:p>
            <a:pPr>
              <a:lnSpc>
                <a:spcPct val="90000"/>
              </a:lnSpc>
            </a:pPr>
            <a:r>
              <a:rPr lang="en-IN"/>
              <a:t>  - Infection: Spread via phishing email</a:t>
            </a:r>
          </a:p>
          <a:p>
            <a:pPr>
              <a:lnSpc>
                <a:spcPct val="90000"/>
              </a:lnSpc>
            </a:pPr>
            <a:r>
              <a:rPr lang="en-IN"/>
              <a:t>  - Monitoring: Track file changes</a:t>
            </a:r>
          </a:p>
          <a:p>
            <a:pPr>
              <a:lnSpc>
                <a:spcPct val="90000"/>
              </a:lnSpc>
            </a:pPr>
            <a:r>
              <a:rPr lang="en-IN"/>
              <a:t>  - Detection: Identify suspicious activity</a:t>
            </a:r>
          </a:p>
          <a:p>
            <a:pPr>
              <a:lnSpc>
                <a:spcPct val="90000"/>
              </a:lnSpc>
            </a:pPr>
            <a:r>
              <a:rPr lang="en-IN"/>
              <a:t>  - Mitigation: Backup files and stop attack</a:t>
            </a:r>
          </a:p>
          <a:p>
            <a:pPr>
              <a:lnSpc>
                <a:spcPct val="90000"/>
              </a:lnSpc>
            </a:pPr>
            <a:endParaRPr lang="en-IN"/>
          </a:p>
          <a:p>
            <a:pPr>
              <a:lnSpc>
                <a:spcPct val="90000"/>
              </a:lnSpc>
            </a:pPr>
            <a:r>
              <a:rPr lang="en-IN"/>
              <a:t>Purpose: Educational demonstration of cybersecurity concepts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- Encryption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Goal: Encrypt files in ~/critical directory</a:t>
            </a:r>
          </a:p>
          <a:p>
            <a:r>
              <a:rPr dirty="0"/>
              <a:t>Implementation:</a:t>
            </a:r>
          </a:p>
          <a:p>
            <a:r>
              <a:rPr dirty="0"/>
              <a:t>  - Python script (encrypt.py) uses AES encryption</a:t>
            </a:r>
          </a:p>
          <a:p>
            <a:r>
              <a:rPr dirty="0"/>
              <a:t>  - Targets files in lab1, lab2, lab3 subdirectories</a:t>
            </a:r>
          </a:p>
          <a:p>
            <a:r>
              <a:rPr dirty="0"/>
              <a:t>  - Key: 16-byte secure key (e.g., Sixteen byte key)</a:t>
            </a:r>
          </a:p>
          <a:p>
            <a:endParaRPr dirty="0"/>
          </a:p>
          <a:p>
            <a:pPr lvl="3"/>
            <a:r>
              <a:rPr dirty="0"/>
              <a:t>Decryption: decrypt.py restores files with the same key</a:t>
            </a:r>
          </a:p>
          <a:p>
            <a:r>
              <a:rPr dirty="0"/>
              <a:t>Outcome: Files locked until ransom paid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Infection - Phishing Email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Goal: Deliver ransomware via phishing</a:t>
            </a:r>
          </a:p>
          <a:p>
            <a:r>
              <a:t>Method:</a:t>
            </a:r>
          </a:p>
          <a:p>
            <a:r>
              <a:t>  - Python script (send_email.py) sends email with encrypt.py attachment</a:t>
            </a:r>
          </a:p>
          <a:p>
            <a:r>
              <a:t>  - Uses smtplib with Gmail SMTP</a:t>
            </a:r>
          </a:p>
          <a:p>
            <a:r>
              <a:t>  - Subject: "Important Document - Open Immediately"</a:t>
            </a:r>
          </a:p>
          <a:p>
            <a:endParaRPr/>
          </a:p>
          <a:p>
            <a:r>
              <a:t>Execution: Victim runs attachment, triggering encryption</a:t>
            </a:r>
          </a:p>
          <a:p>
            <a:r>
              <a:t>Safety: Tested in isolated VM with test email accounts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Goal: Watch for file changes in ~/critical</a:t>
            </a:r>
          </a:p>
          <a:p>
            <a:r>
              <a:t>Implementation:</a:t>
            </a:r>
          </a:p>
          <a:p>
            <a:r>
              <a:t>  - Python script (monitor.py) uses pyinotify</a:t>
            </a:r>
          </a:p>
          <a:p>
            <a:r>
              <a:t>  - Detects file modifications in real-time</a:t>
            </a:r>
          </a:p>
          <a:p>
            <a:endParaRPr/>
          </a:p>
          <a:p>
            <a:r>
              <a:t>Tools: inotify-tools for Linux-based monitoring</a:t>
            </a:r>
          </a:p>
          <a:p>
            <a:r>
              <a:t>Outcome: Logs suspicious activities for detection</a:t>
            </a:r>
          </a:p>
          <a:p>
            <a:r>
              <a:t>Example: Alerts on file writes by encrypt.py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t>Goal: Identify ransomware behavior</a:t>
            </a:r>
          </a:p>
          <a:p>
            <a:r>
              <a:t>Method:</a:t>
            </a:r>
          </a:p>
          <a:p>
            <a:r>
              <a:t>  - Enhanced monitor.py tracks file hashes</a:t>
            </a:r>
          </a:p>
          <a:p>
            <a:r>
              <a:t>  - Detects rapid or unauthorized file changes</a:t>
            </a:r>
          </a:p>
          <a:p>
            <a:r>
              <a:t>  - Uses hashlib to compare file integrity</a:t>
            </a:r>
          </a:p>
          <a:p>
            <a:endParaRPr/>
          </a:p>
          <a:p>
            <a:r>
              <a:t>Indicators:</a:t>
            </a:r>
          </a:p>
          <a:p>
            <a:r>
              <a:t>  - Multiple files modified in short time</a:t>
            </a:r>
          </a:p>
          <a:p>
            <a:r>
              <a:t>  - Unexpected process altering files</a:t>
            </a:r>
          </a:p>
          <a:p>
            <a:endParaRPr/>
          </a:p>
          <a:p>
            <a:r>
              <a:t>Outcome: Flags encrypt.py as malicious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Goal: Stop attack and recover files</a:t>
            </a:r>
          </a:p>
          <a:p>
            <a:r>
              <a:rPr dirty="0"/>
              <a:t>Implementation:</a:t>
            </a:r>
          </a:p>
          <a:p>
            <a:r>
              <a:rPr dirty="0"/>
              <a:t>  - Python script (mitigate.py)</a:t>
            </a:r>
          </a:p>
          <a:p>
            <a:r>
              <a:rPr dirty="0"/>
              <a:t>  - Backup: Copies files to ~/backups with timestamps</a:t>
            </a:r>
          </a:p>
          <a:p>
            <a:r>
              <a:rPr dirty="0"/>
              <a:t>  - Termination: Kills suspicious processes (e.g., encrypt.py) using </a:t>
            </a:r>
            <a:r>
              <a:rPr dirty="0" err="1"/>
              <a:t>psutil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r>
              <a:rPr dirty="0"/>
              <a:t>Future: Cloud backups, process whitelisting</a:t>
            </a:r>
            <a:endParaRPr lang="en-US" dirty="0"/>
          </a:p>
          <a:p>
            <a:r>
              <a:rPr lang="en-IN" dirty="0"/>
              <a:t>Outcome: Preserves files, stops ransomware, notifies admin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25DC1-E171-E5B8-80F8-C48B17E11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and VIDEO Links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CB072-2255-4682-4A3E-73D5BA4B3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Repo: </a:t>
            </a:r>
            <a:r>
              <a:rPr lang="en-US" dirty="0">
                <a:hlinkClick r:id="rId2"/>
              </a:rPr>
              <a:t>https://github.com/joeljohn159/Ransomware---Intro-to-Computer-Security</a:t>
            </a:r>
            <a:endParaRPr lang="en-US" dirty="0"/>
          </a:p>
          <a:p>
            <a:endParaRPr lang="en-US" dirty="0"/>
          </a:p>
          <a:p>
            <a:r>
              <a:rPr lang="en-US" dirty="0"/>
              <a:t>Video Link: 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1634DA5-0D1C-3473-F1DE-59F37351A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4710" y="458183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Project-demo Intro to Security.mp4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6006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8775F366-526C-4C42-8931-696FFE8A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9144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97EA66B-2AAB-42B0-9F9D-38920D8D8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5A62A1-FA4A-F4CF-2B0B-91D81318E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899" y="885433"/>
            <a:ext cx="7696201" cy="3022257"/>
          </a:xfrm>
          <a:effectLst/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300">
                <a:solidFill>
                  <a:schemeClr val="tx1"/>
                </a:solidFill>
                <a:cs typeface="+mj-cs"/>
              </a:rPr>
              <a:t>THANK YOU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360EBE3-31BB-422F-AA87-FA3873DAE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0800000">
            <a:off x="0" y="5388384"/>
            <a:ext cx="9144000" cy="1469616"/>
          </a:xfrm>
          <a:custGeom>
            <a:avLst/>
            <a:gdLst>
              <a:gd name="connsiteX0" fmla="*/ 6113881 w 12192000"/>
              <a:gd name="connsiteY0" fmla="*/ 1469616 h 1469616"/>
              <a:gd name="connsiteX1" fmla="*/ 6101181 w 12192000"/>
              <a:gd name="connsiteY1" fmla="*/ 1469616 h 1469616"/>
              <a:gd name="connsiteX2" fmla="*/ 6090598 w 12192000"/>
              <a:gd name="connsiteY2" fmla="*/ 1469616 h 1469616"/>
              <a:gd name="connsiteX3" fmla="*/ 6077897 w 12192000"/>
              <a:gd name="connsiteY3" fmla="*/ 1464854 h 1469616"/>
              <a:gd name="connsiteX4" fmla="*/ 6065198 w 12192000"/>
              <a:gd name="connsiteY4" fmla="*/ 1460091 h 1469616"/>
              <a:gd name="connsiteX5" fmla="*/ 6056731 w 12192000"/>
              <a:gd name="connsiteY5" fmla="*/ 1456916 h 1469616"/>
              <a:gd name="connsiteX6" fmla="*/ 5678033 w 12192000"/>
              <a:gd name="connsiteY6" fmla="*/ 1172892 h 1469616"/>
              <a:gd name="connsiteX7" fmla="*/ 0 w 12192000"/>
              <a:gd name="connsiteY7" fmla="*/ 1172892 h 1469616"/>
              <a:gd name="connsiteX8" fmla="*/ 0 w 12192000"/>
              <a:gd name="connsiteY8" fmla="*/ 1162370 h 1469616"/>
              <a:gd name="connsiteX9" fmla="*/ 0 w 12192000"/>
              <a:gd name="connsiteY9" fmla="*/ 403347 h 1469616"/>
              <a:gd name="connsiteX10" fmla="*/ 0 w 12192000"/>
              <a:gd name="connsiteY10" fmla="*/ 0 h 1469616"/>
              <a:gd name="connsiteX11" fmla="*/ 12192000 w 12192000"/>
              <a:gd name="connsiteY11" fmla="*/ 0 h 1469616"/>
              <a:gd name="connsiteX12" fmla="*/ 12192000 w 12192000"/>
              <a:gd name="connsiteY12" fmla="*/ 403347 h 1469616"/>
              <a:gd name="connsiteX13" fmla="*/ 12192000 w 12192000"/>
              <a:gd name="connsiteY13" fmla="*/ 1162370 h 1469616"/>
              <a:gd name="connsiteX14" fmla="*/ 12192000 w 12192000"/>
              <a:gd name="connsiteY14" fmla="*/ 1172892 h 1469616"/>
              <a:gd name="connsiteX15" fmla="*/ 6524330 w 12192000"/>
              <a:gd name="connsiteY15" fmla="*/ 1172892 h 1469616"/>
              <a:gd name="connsiteX16" fmla="*/ 6145631 w 12192000"/>
              <a:gd name="connsiteY16" fmla="*/ 1456916 h 1469616"/>
              <a:gd name="connsiteX17" fmla="*/ 6137163 w 12192000"/>
              <a:gd name="connsiteY17" fmla="*/ 1460091 h 1469616"/>
              <a:gd name="connsiteX18" fmla="*/ 6124463 w 12192000"/>
              <a:gd name="connsiteY18" fmla="*/ 1464854 h 1469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192000" h="1469616">
                <a:moveTo>
                  <a:pt x="6113881" y="1469616"/>
                </a:moveTo>
                <a:lnTo>
                  <a:pt x="6101181" y="1469616"/>
                </a:lnTo>
                <a:lnTo>
                  <a:pt x="6090598" y="1469616"/>
                </a:lnTo>
                <a:lnTo>
                  <a:pt x="6077897" y="1464854"/>
                </a:lnTo>
                <a:lnTo>
                  <a:pt x="6065198" y="1460091"/>
                </a:lnTo>
                <a:lnTo>
                  <a:pt x="6056731" y="1456916"/>
                </a:lnTo>
                <a:lnTo>
                  <a:pt x="5678033" y="1172892"/>
                </a:lnTo>
                <a:lnTo>
                  <a:pt x="0" y="1172892"/>
                </a:lnTo>
                <a:lnTo>
                  <a:pt x="0" y="1162370"/>
                </a:lnTo>
                <a:lnTo>
                  <a:pt x="0" y="403347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403347"/>
                </a:lnTo>
                <a:lnTo>
                  <a:pt x="12192000" y="1162370"/>
                </a:lnTo>
                <a:lnTo>
                  <a:pt x="12192000" y="1172892"/>
                </a:lnTo>
                <a:lnTo>
                  <a:pt x="6524330" y="1172892"/>
                </a:lnTo>
                <a:lnTo>
                  <a:pt x="6145631" y="1456916"/>
                </a:lnTo>
                <a:lnTo>
                  <a:pt x="6137163" y="1460091"/>
                </a:lnTo>
                <a:lnTo>
                  <a:pt x="6124463" y="1464854"/>
                </a:lnTo>
                <a:close/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47230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35</TotalTime>
  <Words>423</Words>
  <Application>Microsoft Office PowerPoint</Application>
  <PresentationFormat>On-screen Show (4:3)</PresentationFormat>
  <Paragraphs>70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2</vt:lpstr>
      <vt:lpstr>Quotable</vt:lpstr>
      <vt:lpstr>Team 15 </vt:lpstr>
      <vt:lpstr>Introduction to Ransomware Project</vt:lpstr>
      <vt:lpstr>Action - Encryption</vt:lpstr>
      <vt:lpstr>Infection - Phishing Email</vt:lpstr>
      <vt:lpstr>Monitoring</vt:lpstr>
      <vt:lpstr>Detection</vt:lpstr>
      <vt:lpstr>Mitigation</vt:lpstr>
      <vt:lpstr>GITHUB and VIDEO Links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John, Joel</cp:lastModifiedBy>
  <cp:revision>7</cp:revision>
  <dcterms:created xsi:type="dcterms:W3CDTF">2013-01-27T09:14:16Z</dcterms:created>
  <dcterms:modified xsi:type="dcterms:W3CDTF">2025-05-03T19:32:19Z</dcterms:modified>
  <cp:category/>
</cp:coreProperties>
</file>